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0" d="100"/>
          <a:sy n="60" d="100"/>
        </p:scale>
        <p:origin x="884"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2D4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2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960120"/>
            <a:ext cx="10515600" cy="411480"/>
          </a:xfrm>
          <a:prstGeom prst="rect">
            <a:avLst/>
          </a:prstGeom>
          <a:noFill/>
        </p:spPr>
        <p:txBody>
          <a:bodyPr wrap="square" lIns="45720" rIns="45720" anchor="t">
            <a:spAutoFit/>
          </a:bodyPr>
          <a:lstStyle/>
          <a:p>
            <a:pPr>
              <a:defRPr sz="1500" b="1">
                <a:solidFill>
                  <a:srgbClr val="CBDAEC"/>
                </a:solidFill>
                <a:latin typeface="Aptos"/>
              </a:defRPr>
            </a:pPr>
            <a:r>
              <a:t>COMSATS UNIVERSITY ISLAMABAD — LAHORE CAMPUS</a:t>
            </a:r>
          </a:p>
        </p:txBody>
      </p:sp>
      <p:sp>
        <p:nvSpPr>
          <p:cNvPr id="4" name="TextBox 3"/>
          <p:cNvSpPr txBox="1"/>
          <p:nvPr/>
        </p:nvSpPr>
        <p:spPr>
          <a:xfrm>
            <a:off x="822960" y="1828800"/>
            <a:ext cx="10332720" cy="1143000"/>
          </a:xfrm>
          <a:prstGeom prst="rect">
            <a:avLst/>
          </a:prstGeom>
          <a:noFill/>
        </p:spPr>
        <p:txBody>
          <a:bodyPr wrap="square" lIns="45720" rIns="45720" anchor="t">
            <a:spAutoFit/>
          </a:bodyPr>
          <a:lstStyle/>
          <a:p>
            <a:pPr>
              <a:defRPr sz="3400" b="1">
                <a:solidFill>
                  <a:srgbClr val="FFFFFF"/>
                </a:solidFill>
                <a:latin typeface="Aptos"/>
              </a:defRPr>
            </a:pPr>
            <a:r>
              <a:t>ECO346 | Assignment 1</a:t>
            </a:r>
          </a:p>
        </p:txBody>
      </p:sp>
      <p:sp>
        <p:nvSpPr>
          <p:cNvPr id="5" name="TextBox 4"/>
          <p:cNvSpPr txBox="1"/>
          <p:nvPr/>
        </p:nvSpPr>
        <p:spPr>
          <a:xfrm>
            <a:off x="841248" y="2971800"/>
            <a:ext cx="9875520" cy="640080"/>
          </a:xfrm>
          <a:prstGeom prst="rect">
            <a:avLst/>
          </a:prstGeom>
          <a:noFill/>
        </p:spPr>
        <p:txBody>
          <a:bodyPr wrap="square" lIns="45720" rIns="45720" anchor="t">
            <a:spAutoFit/>
          </a:bodyPr>
          <a:lstStyle/>
          <a:p>
            <a:pPr>
              <a:defRPr sz="2300" b="0">
                <a:solidFill>
                  <a:srgbClr val="DAE5F2"/>
                </a:solidFill>
                <a:latin typeface="Aptos"/>
              </a:defRPr>
            </a:pPr>
            <a:r>
              <a:t>Data Visualization Techniques for Economists</a:t>
            </a:r>
          </a:p>
        </p:txBody>
      </p:sp>
      <p:sp>
        <p:nvSpPr>
          <p:cNvPr id="6" name="TextBox 5"/>
          <p:cNvSpPr txBox="1"/>
          <p:nvPr/>
        </p:nvSpPr>
        <p:spPr>
          <a:xfrm>
            <a:off x="868680" y="4160520"/>
            <a:ext cx="7772400" cy="411480"/>
          </a:xfrm>
          <a:prstGeom prst="rect">
            <a:avLst/>
          </a:prstGeom>
          <a:noFill/>
        </p:spPr>
        <p:txBody>
          <a:bodyPr wrap="square" lIns="45720" rIns="45720" anchor="t">
            <a:spAutoFit/>
          </a:bodyPr>
          <a:lstStyle/>
          <a:p>
            <a:pPr>
              <a:defRPr sz="1900" b="1">
                <a:solidFill>
                  <a:srgbClr val="FFCE97"/>
                </a:solidFill>
                <a:latin typeface="Aptos"/>
              </a:defRPr>
            </a:pPr>
            <a:r>
              <a:t>Variant 5 — KP Urban</a:t>
            </a:r>
          </a:p>
        </p:txBody>
      </p:sp>
      <p:sp>
        <p:nvSpPr>
          <p:cNvPr id="7" name="TextBox 6"/>
          <p:cNvSpPr txBox="1"/>
          <p:nvPr/>
        </p:nvSpPr>
        <p:spPr>
          <a:xfrm>
            <a:off x="868680" y="4773168"/>
            <a:ext cx="6858000" cy="365760"/>
          </a:xfrm>
          <a:prstGeom prst="rect">
            <a:avLst/>
          </a:prstGeom>
          <a:noFill/>
        </p:spPr>
        <p:txBody>
          <a:bodyPr wrap="square" lIns="45720" rIns="45720" anchor="t">
            <a:spAutoFit/>
          </a:bodyPr>
          <a:lstStyle/>
          <a:p>
            <a:pPr>
              <a:defRPr sz="1600" b="0">
                <a:solidFill>
                  <a:srgbClr val="FFFFFF"/>
                </a:solidFill>
                <a:latin typeface="Aptos"/>
              </a:defRPr>
            </a:pPr>
            <a:r>
              <a:t>Registration No.: FA24-BED-085</a:t>
            </a:r>
          </a:p>
        </p:txBody>
      </p:sp>
      <p:sp>
        <p:nvSpPr>
          <p:cNvPr id="8" name="TextBox 7"/>
          <p:cNvSpPr txBox="1"/>
          <p:nvPr/>
        </p:nvSpPr>
        <p:spPr>
          <a:xfrm>
            <a:off x="868680" y="6053328"/>
            <a:ext cx="9875520" cy="274320"/>
          </a:xfrm>
          <a:prstGeom prst="rect">
            <a:avLst/>
          </a:prstGeom>
          <a:noFill/>
        </p:spPr>
        <p:txBody>
          <a:bodyPr wrap="square" lIns="45720" rIns="45720" anchor="t">
            <a:spAutoFit/>
          </a:bodyPr>
          <a:lstStyle/>
          <a:p>
            <a:pPr>
              <a:defRPr sz="1100" b="0">
                <a:solidFill>
                  <a:srgbClr val="CBDAEC"/>
                </a:solidFill>
                <a:latin typeface="Aptos"/>
              </a:defRPr>
            </a:pPr>
            <a:r>
              <a:t>PSLM 2019–20 | Annual earnings of earners aged 15–64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02920"/>
          </a:xfrm>
          <a:prstGeom prst="rect">
            <a:avLst/>
          </a:prstGeom>
          <a:noFill/>
        </p:spPr>
        <p:txBody>
          <a:bodyPr wrap="square" lIns="45720" rIns="45720" anchor="t">
            <a:spAutoFit/>
          </a:bodyPr>
          <a:lstStyle/>
          <a:p>
            <a:pPr>
              <a:defRPr sz="2700" b="1">
                <a:solidFill>
                  <a:srgbClr val="182D4C"/>
                </a:solidFill>
                <a:latin typeface="Aptos"/>
              </a:defRPr>
            </a:pPr>
            <a:r>
              <a:t>Q2 | Earnings Distribution</a:t>
            </a:r>
          </a:p>
        </p:txBody>
      </p:sp>
      <p:sp>
        <p:nvSpPr>
          <p:cNvPr id="3" name="TextBox 2"/>
          <p:cNvSpPr txBox="1"/>
          <p:nvPr/>
        </p:nvSpPr>
        <p:spPr>
          <a:xfrm>
            <a:off x="621792" y="850392"/>
            <a:ext cx="10789920" cy="320040"/>
          </a:xfrm>
          <a:prstGeom prst="rect">
            <a:avLst/>
          </a:prstGeom>
          <a:noFill/>
        </p:spPr>
        <p:txBody>
          <a:bodyPr wrap="square" lIns="45720" rIns="45720" anchor="t">
            <a:spAutoFit/>
          </a:bodyPr>
          <a:lstStyle/>
          <a:p>
            <a:pPr>
              <a:defRPr sz="1100" b="0">
                <a:solidFill>
                  <a:srgbClr val="5E6B7A"/>
                </a:solidFill>
                <a:latin typeface="Aptos"/>
              </a:defRPr>
            </a:pPr>
            <a:r>
              <a:t>KP Urban • Positive annual earnings • Ages 15–64</a:t>
            </a:r>
          </a:p>
        </p:txBody>
      </p:sp>
      <p:sp>
        <p:nvSpPr>
          <p:cNvPr id="4" name="Rectangle 3"/>
          <p:cNvSpPr/>
          <p:nvPr/>
        </p:nvSpPr>
        <p:spPr>
          <a:xfrm>
            <a:off x="621792" y="1207008"/>
            <a:ext cx="914400" cy="50292"/>
          </a:xfrm>
          <a:prstGeom prst="rect">
            <a:avLst/>
          </a:prstGeom>
          <a:solidFill>
            <a:srgbClr val="E2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64240" y="6510528"/>
            <a:ext cx="548640" cy="182880"/>
          </a:xfrm>
          <a:prstGeom prst="rect">
            <a:avLst/>
          </a:prstGeom>
          <a:noFill/>
        </p:spPr>
        <p:txBody>
          <a:bodyPr wrap="square" lIns="45720" rIns="45720" anchor="t">
            <a:spAutoFit/>
          </a:bodyPr>
          <a:lstStyle/>
          <a:p>
            <a:pPr algn="r">
              <a:defRPr sz="900" b="0">
                <a:solidFill>
                  <a:srgbClr val="5E6B7A"/>
                </a:solidFill>
                <a:latin typeface="Aptos"/>
              </a:defRPr>
            </a:pPr>
            <a:r>
              <a:t>2</a:t>
            </a:r>
          </a:p>
        </p:txBody>
      </p:sp>
      <p:sp>
        <p:nvSpPr>
          <p:cNvPr id="6" name="Rounded Rectangle 5"/>
          <p:cNvSpPr/>
          <p:nvPr/>
        </p:nvSpPr>
        <p:spPr>
          <a:xfrm>
            <a:off x="670560" y="1370186"/>
            <a:ext cx="2240280" cy="1051560"/>
          </a:xfrm>
          <a:prstGeom prst="roundRect">
            <a:avLst/>
          </a:prstGeom>
          <a:solidFill>
            <a:srgbClr val="EFF4FA"/>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9808" y="1539424"/>
            <a:ext cx="2011680" cy="256032"/>
          </a:xfrm>
          <a:prstGeom prst="rect">
            <a:avLst/>
          </a:prstGeom>
          <a:noFill/>
        </p:spPr>
        <p:txBody>
          <a:bodyPr wrap="square" lIns="45720" rIns="45720" anchor="t">
            <a:spAutoFit/>
          </a:bodyPr>
          <a:lstStyle/>
          <a:p>
            <a:pPr algn="ctr">
              <a:defRPr sz="1200" b="1">
                <a:solidFill>
                  <a:srgbClr val="5E6B7A"/>
                </a:solidFill>
                <a:latin typeface="Aptos"/>
              </a:defRPr>
            </a:pPr>
            <a:r>
              <a:rPr dirty="0"/>
              <a:t>Weighted median</a:t>
            </a:r>
          </a:p>
        </p:txBody>
      </p:sp>
      <p:sp>
        <p:nvSpPr>
          <p:cNvPr id="8" name="TextBox 7"/>
          <p:cNvSpPr txBox="1"/>
          <p:nvPr/>
        </p:nvSpPr>
        <p:spPr>
          <a:xfrm>
            <a:off x="749808" y="1858124"/>
            <a:ext cx="2011680" cy="347472"/>
          </a:xfrm>
          <a:prstGeom prst="rect">
            <a:avLst/>
          </a:prstGeom>
          <a:noFill/>
        </p:spPr>
        <p:txBody>
          <a:bodyPr wrap="square" lIns="45720" rIns="45720" anchor="t">
            <a:spAutoFit/>
          </a:bodyPr>
          <a:lstStyle/>
          <a:p>
            <a:pPr algn="ctr">
              <a:defRPr sz="1900" b="1">
                <a:solidFill>
                  <a:srgbClr val="182D4C"/>
                </a:solidFill>
                <a:latin typeface="Aptos"/>
              </a:defRPr>
            </a:pPr>
            <a:r>
              <a:rPr dirty="0"/>
              <a:t>Rs 240,000</a:t>
            </a:r>
          </a:p>
        </p:txBody>
      </p:sp>
      <p:sp>
        <p:nvSpPr>
          <p:cNvPr id="9" name="Rounded Rectangle 8"/>
          <p:cNvSpPr/>
          <p:nvPr/>
        </p:nvSpPr>
        <p:spPr>
          <a:xfrm>
            <a:off x="3515868" y="1372828"/>
            <a:ext cx="2240280" cy="1051560"/>
          </a:xfrm>
          <a:prstGeom prst="roundRect">
            <a:avLst/>
          </a:prstGeom>
          <a:solidFill>
            <a:srgbClr val="EFF4FA"/>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10965" y="1560647"/>
            <a:ext cx="2011680" cy="256032"/>
          </a:xfrm>
          <a:prstGeom prst="rect">
            <a:avLst/>
          </a:prstGeom>
          <a:noFill/>
        </p:spPr>
        <p:txBody>
          <a:bodyPr wrap="square" lIns="45720" rIns="45720" anchor="t">
            <a:spAutoFit/>
          </a:bodyPr>
          <a:lstStyle/>
          <a:p>
            <a:pPr algn="ctr">
              <a:defRPr sz="1200" b="1">
                <a:solidFill>
                  <a:srgbClr val="5E6B7A"/>
                </a:solidFill>
                <a:latin typeface="Aptos"/>
              </a:defRPr>
            </a:pPr>
            <a:r>
              <a:rPr dirty="0"/>
              <a:t>Weighted P10</a:t>
            </a:r>
          </a:p>
        </p:txBody>
      </p:sp>
      <p:sp>
        <p:nvSpPr>
          <p:cNvPr id="11" name="TextBox 10"/>
          <p:cNvSpPr txBox="1"/>
          <p:nvPr/>
        </p:nvSpPr>
        <p:spPr>
          <a:xfrm>
            <a:off x="3622395" y="1844497"/>
            <a:ext cx="2011680" cy="347472"/>
          </a:xfrm>
          <a:prstGeom prst="rect">
            <a:avLst/>
          </a:prstGeom>
          <a:noFill/>
        </p:spPr>
        <p:txBody>
          <a:bodyPr wrap="square" lIns="45720" rIns="45720" anchor="t">
            <a:spAutoFit/>
          </a:bodyPr>
          <a:lstStyle/>
          <a:p>
            <a:pPr algn="ctr">
              <a:defRPr sz="1900" b="1">
                <a:solidFill>
                  <a:srgbClr val="182D4C"/>
                </a:solidFill>
                <a:latin typeface="Aptos"/>
              </a:defRPr>
            </a:pPr>
            <a:r>
              <a:rPr dirty="0"/>
              <a:t>Rs 108,000</a:t>
            </a:r>
          </a:p>
        </p:txBody>
      </p:sp>
      <p:sp>
        <p:nvSpPr>
          <p:cNvPr id="12" name="Rounded Rectangle 11"/>
          <p:cNvSpPr/>
          <p:nvPr/>
        </p:nvSpPr>
        <p:spPr>
          <a:xfrm>
            <a:off x="6286500" y="1387124"/>
            <a:ext cx="2240280" cy="1051560"/>
          </a:xfrm>
          <a:prstGeom prst="roundRect">
            <a:avLst/>
          </a:prstGeom>
          <a:solidFill>
            <a:srgbClr val="EFF4FA"/>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1581912"/>
            <a:ext cx="2011680" cy="256032"/>
          </a:xfrm>
          <a:prstGeom prst="rect">
            <a:avLst/>
          </a:prstGeom>
          <a:noFill/>
        </p:spPr>
        <p:txBody>
          <a:bodyPr wrap="square" lIns="45720" rIns="45720" anchor="t">
            <a:spAutoFit/>
          </a:bodyPr>
          <a:lstStyle/>
          <a:p>
            <a:pPr algn="ctr">
              <a:defRPr sz="1200" b="1">
                <a:solidFill>
                  <a:srgbClr val="5E6B7A"/>
                </a:solidFill>
                <a:latin typeface="Aptos"/>
              </a:defRPr>
            </a:pPr>
            <a:r>
              <a:rPr dirty="0"/>
              <a:t>Weighted P90</a:t>
            </a:r>
          </a:p>
        </p:txBody>
      </p:sp>
      <p:sp>
        <p:nvSpPr>
          <p:cNvPr id="14" name="TextBox 13"/>
          <p:cNvSpPr txBox="1"/>
          <p:nvPr/>
        </p:nvSpPr>
        <p:spPr>
          <a:xfrm>
            <a:off x="6435854" y="1852883"/>
            <a:ext cx="2011680" cy="347472"/>
          </a:xfrm>
          <a:prstGeom prst="rect">
            <a:avLst/>
          </a:prstGeom>
          <a:noFill/>
        </p:spPr>
        <p:txBody>
          <a:bodyPr wrap="square" lIns="45720" rIns="45720" anchor="t">
            <a:spAutoFit/>
          </a:bodyPr>
          <a:lstStyle/>
          <a:p>
            <a:pPr algn="ctr">
              <a:defRPr sz="1900" b="1">
                <a:solidFill>
                  <a:srgbClr val="182D4C"/>
                </a:solidFill>
                <a:latin typeface="Aptos"/>
              </a:defRPr>
            </a:pPr>
            <a:r>
              <a:rPr dirty="0"/>
              <a:t>Rs 588,000</a:t>
            </a:r>
          </a:p>
        </p:txBody>
      </p:sp>
      <p:sp>
        <p:nvSpPr>
          <p:cNvPr id="15" name="Rounded Rectangle 14"/>
          <p:cNvSpPr/>
          <p:nvPr/>
        </p:nvSpPr>
        <p:spPr>
          <a:xfrm>
            <a:off x="9259328" y="1381769"/>
            <a:ext cx="2240280" cy="1051560"/>
          </a:xfrm>
          <a:prstGeom prst="roundRect">
            <a:avLst/>
          </a:prstGeom>
          <a:solidFill>
            <a:srgbClr val="EFF4FA"/>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00032" y="1612176"/>
            <a:ext cx="2011680" cy="256032"/>
          </a:xfrm>
          <a:prstGeom prst="rect">
            <a:avLst/>
          </a:prstGeom>
          <a:noFill/>
        </p:spPr>
        <p:txBody>
          <a:bodyPr wrap="square" lIns="45720" rIns="45720" anchor="t">
            <a:spAutoFit/>
          </a:bodyPr>
          <a:lstStyle/>
          <a:p>
            <a:pPr algn="ctr">
              <a:defRPr sz="1200" b="1">
                <a:solidFill>
                  <a:srgbClr val="5E6B7A"/>
                </a:solidFill>
                <a:latin typeface="Aptos"/>
              </a:defRPr>
            </a:pPr>
            <a:r>
              <a:t>P90 / P10 ratio</a:t>
            </a:r>
          </a:p>
        </p:txBody>
      </p:sp>
      <p:sp>
        <p:nvSpPr>
          <p:cNvPr id="17" name="TextBox 16"/>
          <p:cNvSpPr txBox="1"/>
          <p:nvPr/>
        </p:nvSpPr>
        <p:spPr>
          <a:xfrm>
            <a:off x="9373628" y="1844497"/>
            <a:ext cx="2011680" cy="347472"/>
          </a:xfrm>
          <a:prstGeom prst="rect">
            <a:avLst/>
          </a:prstGeom>
          <a:noFill/>
        </p:spPr>
        <p:txBody>
          <a:bodyPr wrap="square" lIns="45720" rIns="45720" anchor="t">
            <a:spAutoFit/>
          </a:bodyPr>
          <a:lstStyle/>
          <a:p>
            <a:pPr algn="ctr">
              <a:defRPr sz="1900" b="1">
                <a:solidFill>
                  <a:srgbClr val="182D4C"/>
                </a:solidFill>
                <a:latin typeface="Aptos"/>
              </a:defRPr>
            </a:pPr>
            <a:r>
              <a:rPr dirty="0"/>
              <a:t>5.44</a:t>
            </a:r>
          </a:p>
        </p:txBody>
      </p:sp>
      <p:sp>
        <p:nvSpPr>
          <p:cNvPr id="20" name="TextBox 19"/>
          <p:cNvSpPr txBox="1"/>
          <p:nvPr/>
        </p:nvSpPr>
        <p:spPr>
          <a:xfrm>
            <a:off x="899160" y="3538729"/>
            <a:ext cx="4861560" cy="276999"/>
          </a:xfrm>
          <a:prstGeom prst="rect">
            <a:avLst/>
          </a:prstGeom>
          <a:noFill/>
        </p:spPr>
        <p:txBody>
          <a:bodyPr wrap="square" lIns="45720" rIns="45720" anchor="t">
            <a:spAutoFit/>
          </a:bodyPr>
          <a:lstStyle/>
          <a:p>
            <a:pPr>
              <a:defRPr sz="1200" b="0">
                <a:solidFill>
                  <a:srgbClr val="26303D"/>
                </a:solidFill>
                <a:latin typeface="Aptos"/>
              </a:defRPr>
            </a:pPr>
            <a:r>
              <a:rPr dirty="0"/>
              <a:t>.</a:t>
            </a:r>
          </a:p>
        </p:txBody>
      </p:sp>
      <p:sp>
        <p:nvSpPr>
          <p:cNvPr id="21" name="Rounded Rectangle 20"/>
          <p:cNvSpPr/>
          <p:nvPr/>
        </p:nvSpPr>
        <p:spPr>
          <a:xfrm>
            <a:off x="594360" y="2590984"/>
            <a:ext cx="10469880" cy="3625807"/>
          </a:xfrm>
          <a:prstGeom prst="roundRect">
            <a:avLst/>
          </a:prstGeom>
          <a:solidFill>
            <a:srgbClr val="EFF4FA"/>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79120" y="6547849"/>
            <a:ext cx="10698480" cy="320040"/>
          </a:xfrm>
          <a:prstGeom prst="rect">
            <a:avLst/>
          </a:prstGeom>
          <a:noFill/>
        </p:spPr>
        <p:txBody>
          <a:bodyPr wrap="square" lIns="45720" rIns="45720" anchor="t">
            <a:spAutoFit/>
          </a:bodyPr>
          <a:lstStyle/>
          <a:p>
            <a:pPr>
              <a:defRPr sz="1100" b="0">
                <a:solidFill>
                  <a:srgbClr val="5E6B7A"/>
                </a:solidFill>
                <a:latin typeface="Aptos"/>
              </a:defRPr>
            </a:pPr>
            <a:r>
              <a:rPr dirty="0"/>
              <a:t>Source: PSLM 2019–20 subset • Weights: </a:t>
            </a:r>
            <a:r>
              <a:rPr dirty="0" err="1"/>
              <a:t>hhweight</a:t>
            </a:r>
            <a:r>
              <a:rPr dirty="0"/>
              <a:t> • Sample size: 678 earners</a:t>
            </a:r>
          </a:p>
        </p:txBody>
      </p:sp>
      <p:sp>
        <p:nvSpPr>
          <p:cNvPr id="41" name="Rectangle 40"/>
          <p:cNvSpPr/>
          <p:nvPr/>
        </p:nvSpPr>
        <p:spPr>
          <a:xfrm>
            <a:off x="3610965" y="3493008"/>
            <a:ext cx="22860" cy="114300"/>
          </a:xfrm>
          <a:prstGeom prst="rect">
            <a:avLst/>
          </a:prstGeom>
          <a:solidFill>
            <a:srgbClr val="E2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3610965" y="3721608"/>
            <a:ext cx="22860" cy="114300"/>
          </a:xfrm>
          <a:prstGeom prst="rect">
            <a:avLst/>
          </a:prstGeom>
          <a:solidFill>
            <a:srgbClr val="E2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3610965" y="4178808"/>
            <a:ext cx="22860" cy="114300"/>
          </a:xfrm>
          <a:prstGeom prst="rect">
            <a:avLst/>
          </a:prstGeom>
          <a:solidFill>
            <a:srgbClr val="E2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3610965" y="4636008"/>
            <a:ext cx="22860" cy="114300"/>
          </a:xfrm>
          <a:prstGeom prst="rect">
            <a:avLst/>
          </a:prstGeom>
          <a:solidFill>
            <a:srgbClr val="E2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3610965" y="4864608"/>
            <a:ext cx="22860" cy="114300"/>
          </a:xfrm>
          <a:prstGeom prst="rect">
            <a:avLst/>
          </a:prstGeom>
          <a:solidFill>
            <a:srgbClr val="E2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3610965" y="5093208"/>
            <a:ext cx="22860" cy="114300"/>
          </a:xfrm>
          <a:prstGeom prst="rect">
            <a:avLst/>
          </a:prstGeom>
          <a:solidFill>
            <a:srgbClr val="E2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035040" y="5394960"/>
            <a:ext cx="914400" cy="201168"/>
          </a:xfrm>
          <a:prstGeom prst="rect">
            <a:avLst/>
          </a:prstGeom>
          <a:noFill/>
        </p:spPr>
        <p:txBody>
          <a:bodyPr wrap="square" lIns="27432" tIns="18288" rIns="27432" bIns="18288" anchor="t">
            <a:spAutoFit/>
          </a:bodyPr>
          <a:lstStyle/>
          <a:p>
            <a:pPr algn="r">
              <a:defRPr sz="900" b="0">
                <a:solidFill>
                  <a:srgbClr val="5E6B7A"/>
                </a:solidFill>
                <a:latin typeface="Aptos"/>
              </a:defRPr>
            </a:pPr>
            <a:r>
              <a:t>Rs 10m</a:t>
            </a:r>
          </a:p>
        </p:txBody>
      </p:sp>
      <p:sp>
        <p:nvSpPr>
          <p:cNvPr id="56" name="TextBox 55"/>
          <p:cNvSpPr txBox="1"/>
          <p:nvPr/>
        </p:nvSpPr>
        <p:spPr>
          <a:xfrm>
            <a:off x="7923914" y="6309891"/>
            <a:ext cx="3246120" cy="685800"/>
          </a:xfrm>
          <a:prstGeom prst="rect">
            <a:avLst/>
          </a:prstGeom>
          <a:noFill/>
        </p:spPr>
        <p:txBody>
          <a:bodyPr wrap="square" lIns="27432" tIns="18288" rIns="27432" bIns="18288" anchor="t">
            <a:spAutoFit/>
          </a:bodyPr>
          <a:lstStyle/>
          <a:p>
            <a:pPr>
              <a:defRPr sz="1100" b="1">
                <a:solidFill>
                  <a:srgbClr val="182D4C"/>
                </a:solidFill>
                <a:latin typeface="Aptos"/>
              </a:defRPr>
            </a:pPr>
            <a:r>
              <a:rPr dirty="0"/>
              <a:t>Weighted median: Rs 240,000</a:t>
            </a:r>
            <a:br>
              <a:rPr dirty="0"/>
            </a:br>
            <a:r>
              <a:rPr dirty="0"/>
              <a:t>Weighted P10: Rs 108,000</a:t>
            </a:r>
            <a:br>
              <a:rPr dirty="0"/>
            </a:br>
            <a:r>
              <a:rPr dirty="0"/>
              <a:t>Weighted P90: Rs 588,000</a:t>
            </a:r>
          </a:p>
        </p:txBody>
      </p:sp>
      <p:pic>
        <p:nvPicPr>
          <p:cNvPr id="58" name="Graphic 57">
            <a:extLst>
              <a:ext uri="{FF2B5EF4-FFF2-40B4-BE49-F238E27FC236}">
                <a16:creationId xmlns:a16="http://schemas.microsoft.com/office/drawing/2014/main" id="{45BA622B-DE89-A8C9-49C5-DC88DE4F2D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56360" y="2861221"/>
            <a:ext cx="9144000" cy="312267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02920"/>
          </a:xfrm>
          <a:prstGeom prst="rect">
            <a:avLst/>
          </a:prstGeom>
          <a:noFill/>
        </p:spPr>
        <p:txBody>
          <a:bodyPr wrap="square" lIns="45720" rIns="45720" anchor="t">
            <a:spAutoFit/>
          </a:bodyPr>
          <a:lstStyle/>
          <a:p>
            <a:pPr>
              <a:defRPr sz="2700" b="1">
                <a:solidFill>
                  <a:srgbClr val="182D4C"/>
                </a:solidFill>
                <a:latin typeface="Aptos"/>
              </a:defRPr>
            </a:pPr>
            <a:r>
              <a:t>Q3 &amp; Q5 | Earnings by Age Band</a:t>
            </a:r>
          </a:p>
        </p:txBody>
      </p:sp>
      <p:sp>
        <p:nvSpPr>
          <p:cNvPr id="3" name="TextBox 2"/>
          <p:cNvSpPr txBox="1"/>
          <p:nvPr/>
        </p:nvSpPr>
        <p:spPr>
          <a:xfrm>
            <a:off x="621792" y="850392"/>
            <a:ext cx="10789920" cy="320040"/>
          </a:xfrm>
          <a:prstGeom prst="rect">
            <a:avLst/>
          </a:prstGeom>
          <a:noFill/>
        </p:spPr>
        <p:txBody>
          <a:bodyPr wrap="square" lIns="45720" rIns="45720" anchor="t">
            <a:spAutoFit/>
          </a:bodyPr>
          <a:lstStyle/>
          <a:p>
            <a:pPr>
              <a:defRPr sz="1100" b="0">
                <a:solidFill>
                  <a:srgbClr val="5E6B7A"/>
                </a:solidFill>
                <a:latin typeface="Aptos"/>
              </a:defRPr>
            </a:pPr>
            <a:r>
              <a:t>Weighted mean annual earnings (Rs) • Five-year age bands</a:t>
            </a:r>
          </a:p>
        </p:txBody>
      </p:sp>
      <p:sp>
        <p:nvSpPr>
          <p:cNvPr id="4" name="Rectangle 3"/>
          <p:cNvSpPr/>
          <p:nvPr/>
        </p:nvSpPr>
        <p:spPr>
          <a:xfrm>
            <a:off x="621792" y="1207008"/>
            <a:ext cx="914400" cy="50292"/>
          </a:xfrm>
          <a:prstGeom prst="rect">
            <a:avLst/>
          </a:prstGeom>
          <a:solidFill>
            <a:srgbClr val="E2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64240" y="6510528"/>
            <a:ext cx="548640" cy="182880"/>
          </a:xfrm>
          <a:prstGeom prst="rect">
            <a:avLst/>
          </a:prstGeom>
          <a:noFill/>
        </p:spPr>
        <p:txBody>
          <a:bodyPr wrap="square" lIns="45720" rIns="45720" anchor="t">
            <a:spAutoFit/>
          </a:bodyPr>
          <a:lstStyle/>
          <a:p>
            <a:pPr algn="r">
              <a:defRPr sz="900" b="0">
                <a:solidFill>
                  <a:srgbClr val="5E6B7A"/>
                </a:solidFill>
                <a:latin typeface="Aptos"/>
              </a:defRPr>
            </a:pPr>
            <a:r>
              <a:t>3</a:t>
            </a:r>
          </a:p>
        </p:txBody>
      </p:sp>
      <p:graphicFrame>
        <p:nvGraphicFramePr>
          <p:cNvPr id="6" name="Table 5"/>
          <p:cNvGraphicFramePr>
            <a:graphicFrameLocks noGrp="1"/>
          </p:cNvGraphicFramePr>
          <p:nvPr/>
        </p:nvGraphicFramePr>
        <p:xfrm>
          <a:off x="731520" y="1554480"/>
          <a:ext cx="5166360" cy="4297680"/>
        </p:xfrm>
        <a:graphic>
          <a:graphicData uri="http://schemas.openxmlformats.org/drawingml/2006/table">
            <a:tbl>
              <a:tblPr firstRow="1" bandRow="1">
                <a:tableStyleId>{5C22544A-7EE6-4342-B048-85BDC9FD1C3A}</a:tableStyleId>
              </a:tblPr>
              <a:tblGrid>
                <a:gridCol w="12344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90698">
                <a:tc>
                  <a:txBody>
                    <a:bodyPr/>
                    <a:lstStyle/>
                    <a:p>
                      <a:pPr algn="l">
                        <a:defRPr sz="1000" b="1">
                          <a:solidFill>
                            <a:srgbClr val="FFFFFF"/>
                          </a:solidFill>
                          <a:latin typeface="Aptos"/>
                        </a:defRPr>
                      </a:pPr>
                      <a:r>
                        <a:t>Age band</a:t>
                      </a:r>
                    </a:p>
                  </a:txBody>
                  <a:tcPr marL="73152" marR="54864" marT="22860" marB="22860" anchor="ctr">
                    <a:solidFill>
                      <a:srgbClr val="182D4C"/>
                    </a:solidFill>
                  </a:tcPr>
                </a:tc>
                <a:tc>
                  <a:txBody>
                    <a:bodyPr/>
                    <a:lstStyle/>
                    <a:p>
                      <a:pPr algn="ctr">
                        <a:defRPr sz="1000" b="1">
                          <a:solidFill>
                            <a:srgbClr val="FFFFFF"/>
                          </a:solidFill>
                          <a:latin typeface="Aptos"/>
                        </a:defRPr>
                      </a:pPr>
                      <a:r>
                        <a:t>Weighted mean (Rs)</a:t>
                      </a:r>
                    </a:p>
                  </a:txBody>
                  <a:tcPr marL="73152" marR="54864" marT="22860" marB="22860" anchor="ctr">
                    <a:solidFill>
                      <a:srgbClr val="182D4C"/>
                    </a:solidFill>
                  </a:tcPr>
                </a:tc>
                <a:tc>
                  <a:txBody>
                    <a:bodyPr/>
                    <a:lstStyle/>
                    <a:p>
                      <a:pPr algn="ctr">
                        <a:defRPr sz="1000" b="1">
                          <a:solidFill>
                            <a:srgbClr val="FFFFFF"/>
                          </a:solidFill>
                          <a:latin typeface="Aptos"/>
                        </a:defRPr>
                      </a:pPr>
                      <a:r>
                        <a:t>N</a:t>
                      </a:r>
                    </a:p>
                  </a:txBody>
                  <a:tcPr marL="73152" marR="54864" marT="22860" marB="22860" anchor="ctr">
                    <a:solidFill>
                      <a:srgbClr val="182D4C"/>
                    </a:solidFill>
                  </a:tcPr>
                </a:tc>
                <a:extLst>
                  <a:ext uri="{0D108BD9-81ED-4DB2-BD59-A6C34878D82A}">
                    <a16:rowId xmlns:a16="http://schemas.microsoft.com/office/drawing/2014/main" val="10000"/>
                  </a:ext>
                </a:extLst>
              </a:tr>
              <a:tr h="390698">
                <a:tc>
                  <a:txBody>
                    <a:bodyPr/>
                    <a:lstStyle/>
                    <a:p>
                      <a:pPr algn="l">
                        <a:defRPr sz="1000" b="0">
                          <a:solidFill>
                            <a:srgbClr val="26303D"/>
                          </a:solidFill>
                          <a:latin typeface="Aptos"/>
                        </a:defRPr>
                      </a:pPr>
                      <a:r>
                        <a:t>15–19</a:t>
                      </a:r>
                    </a:p>
                  </a:txBody>
                  <a:tcPr marL="73152" marR="54864" marT="22860" marB="22860" anchor="ctr">
                    <a:solidFill>
                      <a:srgbClr val="EFF4FA"/>
                    </a:solidFill>
                  </a:tcPr>
                </a:tc>
                <a:tc>
                  <a:txBody>
                    <a:bodyPr/>
                    <a:lstStyle/>
                    <a:p>
                      <a:pPr algn="ctr">
                        <a:defRPr sz="1000" b="0">
                          <a:solidFill>
                            <a:srgbClr val="26303D"/>
                          </a:solidFill>
                          <a:latin typeface="Aptos"/>
                        </a:defRPr>
                      </a:pPr>
                      <a:r>
                        <a:t>152,102</a:t>
                      </a:r>
                    </a:p>
                  </a:txBody>
                  <a:tcPr marL="73152" marR="54864" marT="22860" marB="22860" anchor="ctr">
                    <a:solidFill>
                      <a:srgbClr val="EFF4FA"/>
                    </a:solidFill>
                  </a:tcPr>
                </a:tc>
                <a:tc>
                  <a:txBody>
                    <a:bodyPr/>
                    <a:lstStyle/>
                    <a:p>
                      <a:pPr algn="ctr">
                        <a:defRPr sz="1000" b="0">
                          <a:solidFill>
                            <a:srgbClr val="26303D"/>
                          </a:solidFill>
                          <a:latin typeface="Aptos"/>
                        </a:defRPr>
                      </a:pPr>
                      <a:r>
                        <a:t>35</a:t>
                      </a:r>
                    </a:p>
                  </a:txBody>
                  <a:tcPr marL="73152" marR="54864" marT="22860" marB="22860" anchor="ctr">
                    <a:solidFill>
                      <a:srgbClr val="EFF4FA"/>
                    </a:solidFill>
                  </a:tcPr>
                </a:tc>
                <a:extLst>
                  <a:ext uri="{0D108BD9-81ED-4DB2-BD59-A6C34878D82A}">
                    <a16:rowId xmlns:a16="http://schemas.microsoft.com/office/drawing/2014/main" val="10001"/>
                  </a:ext>
                </a:extLst>
              </a:tr>
              <a:tr h="390698">
                <a:tc>
                  <a:txBody>
                    <a:bodyPr/>
                    <a:lstStyle/>
                    <a:p>
                      <a:pPr algn="l">
                        <a:defRPr sz="1000" b="0">
                          <a:solidFill>
                            <a:srgbClr val="26303D"/>
                          </a:solidFill>
                          <a:latin typeface="Aptos"/>
                        </a:defRPr>
                      </a:pPr>
                      <a:r>
                        <a:t>20–24</a:t>
                      </a:r>
                    </a:p>
                  </a:txBody>
                  <a:tcPr marL="73152" marR="54864" marT="22860" marB="22860" anchor="ctr">
                    <a:solidFill>
                      <a:srgbClr val="FFFFFF"/>
                    </a:solidFill>
                  </a:tcPr>
                </a:tc>
                <a:tc>
                  <a:txBody>
                    <a:bodyPr/>
                    <a:lstStyle/>
                    <a:p>
                      <a:pPr algn="ctr">
                        <a:defRPr sz="1000" b="0">
                          <a:solidFill>
                            <a:srgbClr val="26303D"/>
                          </a:solidFill>
                          <a:latin typeface="Aptos"/>
                        </a:defRPr>
                      </a:pPr>
                      <a:r>
                        <a:t>203,196</a:t>
                      </a:r>
                    </a:p>
                  </a:txBody>
                  <a:tcPr marL="73152" marR="54864" marT="22860" marB="22860" anchor="ctr">
                    <a:solidFill>
                      <a:srgbClr val="FFFFFF"/>
                    </a:solidFill>
                  </a:tcPr>
                </a:tc>
                <a:tc>
                  <a:txBody>
                    <a:bodyPr/>
                    <a:lstStyle/>
                    <a:p>
                      <a:pPr algn="ctr">
                        <a:defRPr sz="1000" b="0">
                          <a:solidFill>
                            <a:srgbClr val="26303D"/>
                          </a:solidFill>
                          <a:latin typeface="Aptos"/>
                        </a:defRPr>
                      </a:pPr>
                      <a:r>
                        <a:t>82</a:t>
                      </a:r>
                    </a:p>
                  </a:txBody>
                  <a:tcPr marL="73152" marR="54864" marT="22860" marB="22860" anchor="ctr">
                    <a:solidFill>
                      <a:srgbClr val="FFFFFF"/>
                    </a:solidFill>
                  </a:tcPr>
                </a:tc>
                <a:extLst>
                  <a:ext uri="{0D108BD9-81ED-4DB2-BD59-A6C34878D82A}">
                    <a16:rowId xmlns:a16="http://schemas.microsoft.com/office/drawing/2014/main" val="10002"/>
                  </a:ext>
                </a:extLst>
              </a:tr>
              <a:tr h="390698">
                <a:tc>
                  <a:txBody>
                    <a:bodyPr/>
                    <a:lstStyle/>
                    <a:p>
                      <a:pPr algn="l">
                        <a:defRPr sz="1000" b="0">
                          <a:solidFill>
                            <a:srgbClr val="26303D"/>
                          </a:solidFill>
                          <a:latin typeface="Aptos"/>
                        </a:defRPr>
                      </a:pPr>
                      <a:r>
                        <a:t>25–29</a:t>
                      </a:r>
                    </a:p>
                  </a:txBody>
                  <a:tcPr marL="73152" marR="54864" marT="22860" marB="22860" anchor="ctr">
                    <a:solidFill>
                      <a:srgbClr val="EFF4FA"/>
                    </a:solidFill>
                  </a:tcPr>
                </a:tc>
                <a:tc>
                  <a:txBody>
                    <a:bodyPr/>
                    <a:lstStyle/>
                    <a:p>
                      <a:pPr algn="ctr">
                        <a:defRPr sz="1000" b="0">
                          <a:solidFill>
                            <a:srgbClr val="26303D"/>
                          </a:solidFill>
                          <a:latin typeface="Aptos"/>
                        </a:defRPr>
                      </a:pPr>
                      <a:r>
                        <a:t>289,679</a:t>
                      </a:r>
                    </a:p>
                  </a:txBody>
                  <a:tcPr marL="73152" marR="54864" marT="22860" marB="22860" anchor="ctr">
                    <a:solidFill>
                      <a:srgbClr val="EFF4FA"/>
                    </a:solidFill>
                  </a:tcPr>
                </a:tc>
                <a:tc>
                  <a:txBody>
                    <a:bodyPr/>
                    <a:lstStyle/>
                    <a:p>
                      <a:pPr algn="ctr">
                        <a:defRPr sz="1000" b="0">
                          <a:solidFill>
                            <a:srgbClr val="26303D"/>
                          </a:solidFill>
                          <a:latin typeface="Aptos"/>
                        </a:defRPr>
                      </a:pPr>
                      <a:r>
                        <a:t>89</a:t>
                      </a:r>
                    </a:p>
                  </a:txBody>
                  <a:tcPr marL="73152" marR="54864" marT="22860" marB="22860" anchor="ctr">
                    <a:solidFill>
                      <a:srgbClr val="EFF4FA"/>
                    </a:solidFill>
                  </a:tcPr>
                </a:tc>
                <a:extLst>
                  <a:ext uri="{0D108BD9-81ED-4DB2-BD59-A6C34878D82A}">
                    <a16:rowId xmlns:a16="http://schemas.microsoft.com/office/drawing/2014/main" val="10003"/>
                  </a:ext>
                </a:extLst>
              </a:tr>
              <a:tr h="390698">
                <a:tc>
                  <a:txBody>
                    <a:bodyPr/>
                    <a:lstStyle/>
                    <a:p>
                      <a:pPr algn="l">
                        <a:defRPr sz="1000" b="0">
                          <a:solidFill>
                            <a:srgbClr val="26303D"/>
                          </a:solidFill>
                          <a:latin typeface="Aptos"/>
                        </a:defRPr>
                      </a:pPr>
                      <a:r>
                        <a:t>30–34</a:t>
                      </a:r>
                    </a:p>
                  </a:txBody>
                  <a:tcPr marL="73152" marR="54864" marT="22860" marB="22860" anchor="ctr">
                    <a:solidFill>
                      <a:srgbClr val="FFFFFF"/>
                    </a:solidFill>
                  </a:tcPr>
                </a:tc>
                <a:tc>
                  <a:txBody>
                    <a:bodyPr/>
                    <a:lstStyle/>
                    <a:p>
                      <a:pPr algn="ctr">
                        <a:defRPr sz="1000" b="0">
                          <a:solidFill>
                            <a:srgbClr val="26303D"/>
                          </a:solidFill>
                          <a:latin typeface="Aptos"/>
                        </a:defRPr>
                      </a:pPr>
                      <a:r>
                        <a:t>303,177</a:t>
                      </a:r>
                    </a:p>
                  </a:txBody>
                  <a:tcPr marL="73152" marR="54864" marT="22860" marB="22860" anchor="ctr">
                    <a:solidFill>
                      <a:srgbClr val="FFFFFF"/>
                    </a:solidFill>
                  </a:tcPr>
                </a:tc>
                <a:tc>
                  <a:txBody>
                    <a:bodyPr/>
                    <a:lstStyle/>
                    <a:p>
                      <a:pPr algn="ctr">
                        <a:defRPr sz="1000" b="0">
                          <a:solidFill>
                            <a:srgbClr val="26303D"/>
                          </a:solidFill>
                          <a:latin typeface="Aptos"/>
                        </a:defRPr>
                      </a:pPr>
                      <a:r>
                        <a:t>86</a:t>
                      </a:r>
                    </a:p>
                  </a:txBody>
                  <a:tcPr marL="73152" marR="54864" marT="22860" marB="22860" anchor="ctr">
                    <a:solidFill>
                      <a:srgbClr val="FFFFFF"/>
                    </a:solidFill>
                  </a:tcPr>
                </a:tc>
                <a:extLst>
                  <a:ext uri="{0D108BD9-81ED-4DB2-BD59-A6C34878D82A}">
                    <a16:rowId xmlns:a16="http://schemas.microsoft.com/office/drawing/2014/main" val="10004"/>
                  </a:ext>
                </a:extLst>
              </a:tr>
              <a:tr h="390698">
                <a:tc>
                  <a:txBody>
                    <a:bodyPr/>
                    <a:lstStyle/>
                    <a:p>
                      <a:pPr algn="l">
                        <a:defRPr sz="1000" b="0">
                          <a:solidFill>
                            <a:srgbClr val="26303D"/>
                          </a:solidFill>
                          <a:latin typeface="Aptos"/>
                        </a:defRPr>
                      </a:pPr>
                      <a:r>
                        <a:t>35–39</a:t>
                      </a:r>
                    </a:p>
                  </a:txBody>
                  <a:tcPr marL="73152" marR="54864" marT="22860" marB="22860" anchor="ctr">
                    <a:solidFill>
                      <a:srgbClr val="EFF4FA"/>
                    </a:solidFill>
                  </a:tcPr>
                </a:tc>
                <a:tc>
                  <a:txBody>
                    <a:bodyPr/>
                    <a:lstStyle/>
                    <a:p>
                      <a:pPr algn="ctr">
                        <a:defRPr sz="1000" b="0">
                          <a:solidFill>
                            <a:srgbClr val="26303D"/>
                          </a:solidFill>
                          <a:latin typeface="Aptos"/>
                        </a:defRPr>
                      </a:pPr>
                      <a:r>
                        <a:t>364,289</a:t>
                      </a:r>
                    </a:p>
                  </a:txBody>
                  <a:tcPr marL="73152" marR="54864" marT="22860" marB="22860" anchor="ctr">
                    <a:solidFill>
                      <a:srgbClr val="EFF4FA"/>
                    </a:solidFill>
                  </a:tcPr>
                </a:tc>
                <a:tc>
                  <a:txBody>
                    <a:bodyPr/>
                    <a:lstStyle/>
                    <a:p>
                      <a:pPr algn="ctr">
                        <a:defRPr sz="1000" b="0">
                          <a:solidFill>
                            <a:srgbClr val="26303D"/>
                          </a:solidFill>
                          <a:latin typeface="Aptos"/>
                        </a:defRPr>
                      </a:pPr>
                      <a:r>
                        <a:t>118</a:t>
                      </a:r>
                    </a:p>
                  </a:txBody>
                  <a:tcPr marL="73152" marR="54864" marT="22860" marB="22860" anchor="ctr">
                    <a:solidFill>
                      <a:srgbClr val="EFF4FA"/>
                    </a:solidFill>
                  </a:tcPr>
                </a:tc>
                <a:extLst>
                  <a:ext uri="{0D108BD9-81ED-4DB2-BD59-A6C34878D82A}">
                    <a16:rowId xmlns:a16="http://schemas.microsoft.com/office/drawing/2014/main" val="10005"/>
                  </a:ext>
                </a:extLst>
              </a:tr>
              <a:tr h="390698">
                <a:tc>
                  <a:txBody>
                    <a:bodyPr/>
                    <a:lstStyle/>
                    <a:p>
                      <a:pPr algn="l">
                        <a:defRPr sz="1000" b="0">
                          <a:solidFill>
                            <a:srgbClr val="26303D"/>
                          </a:solidFill>
                          <a:latin typeface="Aptos"/>
                        </a:defRPr>
                      </a:pPr>
                      <a:r>
                        <a:t>40–44</a:t>
                      </a:r>
                    </a:p>
                  </a:txBody>
                  <a:tcPr marL="73152" marR="54864" marT="22860" marB="22860" anchor="ctr">
                    <a:solidFill>
                      <a:srgbClr val="FFFFFF"/>
                    </a:solidFill>
                  </a:tcPr>
                </a:tc>
                <a:tc>
                  <a:txBody>
                    <a:bodyPr/>
                    <a:lstStyle/>
                    <a:p>
                      <a:pPr algn="ctr">
                        <a:defRPr sz="1000" b="0">
                          <a:solidFill>
                            <a:srgbClr val="26303D"/>
                          </a:solidFill>
                          <a:latin typeface="Aptos"/>
                        </a:defRPr>
                      </a:pPr>
                      <a:r>
                        <a:t>377,476</a:t>
                      </a:r>
                    </a:p>
                  </a:txBody>
                  <a:tcPr marL="73152" marR="54864" marT="22860" marB="22860" anchor="ctr">
                    <a:solidFill>
                      <a:srgbClr val="FFFFFF"/>
                    </a:solidFill>
                  </a:tcPr>
                </a:tc>
                <a:tc>
                  <a:txBody>
                    <a:bodyPr/>
                    <a:lstStyle/>
                    <a:p>
                      <a:pPr algn="ctr">
                        <a:defRPr sz="1000" b="0">
                          <a:solidFill>
                            <a:srgbClr val="26303D"/>
                          </a:solidFill>
                          <a:latin typeface="Aptos"/>
                        </a:defRPr>
                      </a:pPr>
                      <a:r>
                        <a:t>104</a:t>
                      </a:r>
                    </a:p>
                  </a:txBody>
                  <a:tcPr marL="73152" marR="54864" marT="22860" marB="22860" anchor="ctr">
                    <a:solidFill>
                      <a:srgbClr val="FFFFFF"/>
                    </a:solidFill>
                  </a:tcPr>
                </a:tc>
                <a:extLst>
                  <a:ext uri="{0D108BD9-81ED-4DB2-BD59-A6C34878D82A}">
                    <a16:rowId xmlns:a16="http://schemas.microsoft.com/office/drawing/2014/main" val="10006"/>
                  </a:ext>
                </a:extLst>
              </a:tr>
              <a:tr h="390698">
                <a:tc>
                  <a:txBody>
                    <a:bodyPr/>
                    <a:lstStyle/>
                    <a:p>
                      <a:pPr algn="l">
                        <a:defRPr sz="1000" b="0">
                          <a:solidFill>
                            <a:srgbClr val="26303D"/>
                          </a:solidFill>
                          <a:latin typeface="Aptos"/>
                        </a:defRPr>
                      </a:pPr>
                      <a:r>
                        <a:t>45–49</a:t>
                      </a:r>
                    </a:p>
                  </a:txBody>
                  <a:tcPr marL="73152" marR="54864" marT="22860" marB="22860" anchor="ctr">
                    <a:solidFill>
                      <a:srgbClr val="EFF4FA"/>
                    </a:solidFill>
                  </a:tcPr>
                </a:tc>
                <a:tc>
                  <a:txBody>
                    <a:bodyPr/>
                    <a:lstStyle/>
                    <a:p>
                      <a:pPr algn="ctr">
                        <a:defRPr sz="1000" b="0">
                          <a:solidFill>
                            <a:srgbClr val="26303D"/>
                          </a:solidFill>
                          <a:latin typeface="Aptos"/>
                        </a:defRPr>
                      </a:pPr>
                      <a:r>
                        <a:t>361,264</a:t>
                      </a:r>
                    </a:p>
                  </a:txBody>
                  <a:tcPr marL="73152" marR="54864" marT="22860" marB="22860" anchor="ctr">
                    <a:solidFill>
                      <a:srgbClr val="EFF4FA"/>
                    </a:solidFill>
                  </a:tcPr>
                </a:tc>
                <a:tc>
                  <a:txBody>
                    <a:bodyPr/>
                    <a:lstStyle/>
                    <a:p>
                      <a:pPr algn="ctr">
                        <a:defRPr sz="1000" b="0">
                          <a:solidFill>
                            <a:srgbClr val="26303D"/>
                          </a:solidFill>
                          <a:latin typeface="Aptos"/>
                        </a:defRPr>
                      </a:pPr>
                      <a:r>
                        <a:t>65</a:t>
                      </a:r>
                    </a:p>
                  </a:txBody>
                  <a:tcPr marL="73152" marR="54864" marT="22860" marB="22860" anchor="ctr">
                    <a:solidFill>
                      <a:srgbClr val="EFF4FA"/>
                    </a:solidFill>
                  </a:tcPr>
                </a:tc>
                <a:extLst>
                  <a:ext uri="{0D108BD9-81ED-4DB2-BD59-A6C34878D82A}">
                    <a16:rowId xmlns:a16="http://schemas.microsoft.com/office/drawing/2014/main" val="10007"/>
                  </a:ext>
                </a:extLst>
              </a:tr>
              <a:tr h="390698">
                <a:tc>
                  <a:txBody>
                    <a:bodyPr/>
                    <a:lstStyle/>
                    <a:p>
                      <a:pPr algn="l">
                        <a:defRPr sz="1000" b="0">
                          <a:solidFill>
                            <a:srgbClr val="26303D"/>
                          </a:solidFill>
                          <a:latin typeface="Aptos"/>
                        </a:defRPr>
                      </a:pPr>
                      <a:r>
                        <a:t>50–54</a:t>
                      </a:r>
                    </a:p>
                  </a:txBody>
                  <a:tcPr marL="73152" marR="54864" marT="22860" marB="22860" anchor="ctr">
                    <a:solidFill>
                      <a:srgbClr val="FFFFFF"/>
                    </a:solidFill>
                  </a:tcPr>
                </a:tc>
                <a:tc>
                  <a:txBody>
                    <a:bodyPr/>
                    <a:lstStyle/>
                    <a:p>
                      <a:pPr algn="ctr">
                        <a:defRPr sz="1000" b="0">
                          <a:solidFill>
                            <a:srgbClr val="26303D"/>
                          </a:solidFill>
                          <a:latin typeface="Aptos"/>
                        </a:defRPr>
                      </a:pPr>
                      <a:r>
                        <a:t>451,343</a:t>
                      </a:r>
                    </a:p>
                  </a:txBody>
                  <a:tcPr marL="73152" marR="54864" marT="22860" marB="22860" anchor="ctr">
                    <a:solidFill>
                      <a:srgbClr val="FFFFFF"/>
                    </a:solidFill>
                  </a:tcPr>
                </a:tc>
                <a:tc>
                  <a:txBody>
                    <a:bodyPr/>
                    <a:lstStyle/>
                    <a:p>
                      <a:pPr algn="ctr">
                        <a:defRPr sz="1000" b="0">
                          <a:solidFill>
                            <a:srgbClr val="26303D"/>
                          </a:solidFill>
                          <a:latin typeface="Aptos"/>
                        </a:defRPr>
                      </a:pPr>
                      <a:r>
                        <a:t>49</a:t>
                      </a:r>
                    </a:p>
                  </a:txBody>
                  <a:tcPr marL="73152" marR="54864" marT="22860" marB="22860" anchor="ctr">
                    <a:solidFill>
                      <a:srgbClr val="FFFFFF"/>
                    </a:solidFill>
                  </a:tcPr>
                </a:tc>
                <a:extLst>
                  <a:ext uri="{0D108BD9-81ED-4DB2-BD59-A6C34878D82A}">
                    <a16:rowId xmlns:a16="http://schemas.microsoft.com/office/drawing/2014/main" val="10008"/>
                  </a:ext>
                </a:extLst>
              </a:tr>
              <a:tr h="390698">
                <a:tc>
                  <a:txBody>
                    <a:bodyPr/>
                    <a:lstStyle/>
                    <a:p>
                      <a:pPr algn="l">
                        <a:defRPr sz="1000" b="0">
                          <a:solidFill>
                            <a:srgbClr val="26303D"/>
                          </a:solidFill>
                          <a:latin typeface="Aptos"/>
                        </a:defRPr>
                      </a:pPr>
                      <a:r>
                        <a:t>55–59</a:t>
                      </a:r>
                    </a:p>
                  </a:txBody>
                  <a:tcPr marL="73152" marR="54864" marT="22860" marB="22860" anchor="ctr">
                    <a:solidFill>
                      <a:srgbClr val="EFF4FA"/>
                    </a:solidFill>
                  </a:tcPr>
                </a:tc>
                <a:tc>
                  <a:txBody>
                    <a:bodyPr/>
                    <a:lstStyle/>
                    <a:p>
                      <a:pPr algn="ctr">
                        <a:defRPr sz="1000" b="1">
                          <a:solidFill>
                            <a:srgbClr val="26303D"/>
                          </a:solidFill>
                          <a:latin typeface="Aptos"/>
                        </a:defRPr>
                      </a:pPr>
                      <a:r>
                        <a:t>461,593</a:t>
                      </a:r>
                    </a:p>
                  </a:txBody>
                  <a:tcPr marL="73152" marR="54864" marT="22860" marB="22860" anchor="ctr">
                    <a:solidFill>
                      <a:srgbClr val="EFF4FA"/>
                    </a:solidFill>
                  </a:tcPr>
                </a:tc>
                <a:tc>
                  <a:txBody>
                    <a:bodyPr/>
                    <a:lstStyle/>
                    <a:p>
                      <a:pPr algn="ctr">
                        <a:defRPr sz="1000" b="0">
                          <a:solidFill>
                            <a:srgbClr val="26303D"/>
                          </a:solidFill>
                          <a:latin typeface="Aptos"/>
                        </a:defRPr>
                      </a:pPr>
                      <a:r>
                        <a:t>35</a:t>
                      </a:r>
                    </a:p>
                  </a:txBody>
                  <a:tcPr marL="73152" marR="54864" marT="22860" marB="22860" anchor="ctr">
                    <a:solidFill>
                      <a:srgbClr val="EFF4FA"/>
                    </a:solidFill>
                  </a:tcPr>
                </a:tc>
                <a:extLst>
                  <a:ext uri="{0D108BD9-81ED-4DB2-BD59-A6C34878D82A}">
                    <a16:rowId xmlns:a16="http://schemas.microsoft.com/office/drawing/2014/main" val="10009"/>
                  </a:ext>
                </a:extLst>
              </a:tr>
              <a:tr h="390700">
                <a:tc>
                  <a:txBody>
                    <a:bodyPr/>
                    <a:lstStyle/>
                    <a:p>
                      <a:pPr algn="l">
                        <a:defRPr sz="1000" b="0">
                          <a:solidFill>
                            <a:srgbClr val="26303D"/>
                          </a:solidFill>
                          <a:latin typeface="Aptos"/>
                        </a:defRPr>
                      </a:pPr>
                      <a:r>
                        <a:t>60–64</a:t>
                      </a:r>
                    </a:p>
                  </a:txBody>
                  <a:tcPr marL="73152" marR="54864" marT="22860" marB="22860" anchor="ctr">
                    <a:solidFill>
                      <a:srgbClr val="FFFFFF"/>
                    </a:solidFill>
                  </a:tcPr>
                </a:tc>
                <a:tc>
                  <a:txBody>
                    <a:bodyPr/>
                    <a:lstStyle/>
                    <a:p>
                      <a:pPr algn="ctr">
                        <a:defRPr sz="1000" b="0">
                          <a:solidFill>
                            <a:srgbClr val="26303D"/>
                          </a:solidFill>
                          <a:latin typeface="Aptos"/>
                        </a:defRPr>
                      </a:pPr>
                      <a:r>
                        <a:t>203,724</a:t>
                      </a:r>
                    </a:p>
                  </a:txBody>
                  <a:tcPr marL="73152" marR="54864" marT="22860" marB="22860" anchor="ctr">
                    <a:solidFill>
                      <a:srgbClr val="FFFFFF"/>
                    </a:solidFill>
                  </a:tcPr>
                </a:tc>
                <a:tc>
                  <a:txBody>
                    <a:bodyPr/>
                    <a:lstStyle/>
                    <a:p>
                      <a:pPr algn="ctr">
                        <a:defRPr sz="1000" b="0">
                          <a:solidFill>
                            <a:srgbClr val="26303D"/>
                          </a:solidFill>
                          <a:latin typeface="Aptos"/>
                        </a:defRPr>
                      </a:pPr>
                      <a:r>
                        <a:t>15</a:t>
                      </a:r>
                    </a:p>
                  </a:txBody>
                  <a:tcPr marL="73152" marR="54864" marT="22860" marB="22860" anchor="ctr">
                    <a:solidFill>
                      <a:srgbClr val="FFFFFF"/>
                    </a:solidFill>
                  </a:tcPr>
                </a:tc>
                <a:extLst>
                  <a:ext uri="{0D108BD9-81ED-4DB2-BD59-A6C34878D82A}">
                    <a16:rowId xmlns:a16="http://schemas.microsoft.com/office/drawing/2014/main" val="10010"/>
                  </a:ext>
                </a:extLst>
              </a:tr>
            </a:tbl>
          </a:graphicData>
        </a:graphic>
      </p:graphicFrame>
      <p:sp>
        <p:nvSpPr>
          <p:cNvPr id="7" name="Rounded Rectangle 6"/>
          <p:cNvSpPr/>
          <p:nvPr/>
        </p:nvSpPr>
        <p:spPr>
          <a:xfrm>
            <a:off x="6537960" y="1645920"/>
            <a:ext cx="4800600" cy="1371600"/>
          </a:xfrm>
          <a:prstGeom prst="roundRect">
            <a:avLst/>
          </a:prstGeom>
          <a:solidFill>
            <a:srgbClr val="EFF4FA"/>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20840" y="1792224"/>
            <a:ext cx="4434840" cy="320040"/>
          </a:xfrm>
          <a:prstGeom prst="rect">
            <a:avLst/>
          </a:prstGeom>
          <a:noFill/>
        </p:spPr>
        <p:txBody>
          <a:bodyPr wrap="square" lIns="45720" rIns="45720" anchor="t">
            <a:spAutoFit/>
          </a:bodyPr>
          <a:lstStyle/>
          <a:p>
            <a:pPr>
              <a:defRPr sz="1500" b="1">
                <a:solidFill>
                  <a:srgbClr val="E28936"/>
                </a:solidFill>
                <a:latin typeface="Aptos"/>
              </a:defRPr>
            </a:pPr>
            <a:r>
              <a:t>Highest weighted mean</a:t>
            </a:r>
          </a:p>
        </p:txBody>
      </p:sp>
      <p:sp>
        <p:nvSpPr>
          <p:cNvPr id="9" name="TextBox 8"/>
          <p:cNvSpPr txBox="1"/>
          <p:nvPr/>
        </p:nvSpPr>
        <p:spPr>
          <a:xfrm>
            <a:off x="6720840" y="2212848"/>
            <a:ext cx="4434840" cy="658368"/>
          </a:xfrm>
          <a:prstGeom prst="rect">
            <a:avLst/>
          </a:prstGeom>
          <a:noFill/>
        </p:spPr>
        <p:txBody>
          <a:bodyPr wrap="square" lIns="45720" rIns="45720" anchor="t">
            <a:spAutoFit/>
          </a:bodyPr>
          <a:lstStyle/>
          <a:p>
            <a:pPr>
              <a:defRPr sz="1200" b="0">
                <a:solidFill>
                  <a:srgbClr val="26303D"/>
                </a:solidFill>
                <a:latin typeface="Aptos"/>
              </a:defRPr>
            </a:pPr>
            <a:r>
              <a:t>Age 55–59: Rs 461,593</a:t>
            </a:r>
          </a:p>
        </p:txBody>
      </p:sp>
      <p:sp>
        <p:nvSpPr>
          <p:cNvPr id="10" name="Rounded Rectangle 9"/>
          <p:cNvSpPr/>
          <p:nvPr/>
        </p:nvSpPr>
        <p:spPr>
          <a:xfrm>
            <a:off x="6537960" y="3246120"/>
            <a:ext cx="4800600" cy="1463040"/>
          </a:xfrm>
          <a:prstGeom prst="roundRect">
            <a:avLst/>
          </a:prstGeom>
          <a:solidFill>
            <a:srgbClr val="EFF4FA"/>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20840" y="3392424"/>
            <a:ext cx="4434840" cy="320040"/>
          </a:xfrm>
          <a:prstGeom prst="rect">
            <a:avLst/>
          </a:prstGeom>
          <a:noFill/>
        </p:spPr>
        <p:txBody>
          <a:bodyPr wrap="square" lIns="45720" rIns="45720" anchor="t">
            <a:spAutoFit/>
          </a:bodyPr>
          <a:lstStyle/>
          <a:p>
            <a:pPr>
              <a:defRPr sz="1500" b="1">
                <a:solidFill>
                  <a:srgbClr val="3668A6"/>
                </a:solidFill>
                <a:latin typeface="Aptos"/>
              </a:defRPr>
            </a:pPr>
            <a:r>
              <a:t>Interpretation</a:t>
            </a:r>
          </a:p>
        </p:txBody>
      </p:sp>
      <p:sp>
        <p:nvSpPr>
          <p:cNvPr id="12" name="TextBox 11"/>
          <p:cNvSpPr txBox="1"/>
          <p:nvPr/>
        </p:nvSpPr>
        <p:spPr>
          <a:xfrm>
            <a:off x="6720840" y="3813048"/>
            <a:ext cx="4434840" cy="749808"/>
          </a:xfrm>
          <a:prstGeom prst="rect">
            <a:avLst/>
          </a:prstGeom>
          <a:noFill/>
        </p:spPr>
        <p:txBody>
          <a:bodyPr wrap="square" lIns="45720" rIns="45720" anchor="t">
            <a:spAutoFit/>
          </a:bodyPr>
          <a:lstStyle/>
          <a:p>
            <a:pPr>
              <a:defRPr sz="1200" b="0">
                <a:solidFill>
                  <a:srgbClr val="26303D"/>
                </a:solidFill>
                <a:latin typeface="Aptos"/>
              </a:defRPr>
            </a:pPr>
            <a:r>
              <a:t>Weighted mean earnings generally rise across age bands, but the pattern is not perfectly smooth. Earnings are lower in the 60–64 band; this group has only 15 earners, so interpret it cautiously.</a:t>
            </a:r>
          </a:p>
        </p:txBody>
      </p:sp>
      <p:sp>
        <p:nvSpPr>
          <p:cNvPr id="13" name="Rounded Rectangle 12"/>
          <p:cNvSpPr/>
          <p:nvPr/>
        </p:nvSpPr>
        <p:spPr>
          <a:xfrm>
            <a:off x="6537960" y="4892040"/>
            <a:ext cx="4800600" cy="1051560"/>
          </a:xfrm>
          <a:prstGeom prst="roundRect">
            <a:avLst/>
          </a:prstGeom>
          <a:solidFill>
            <a:srgbClr val="EFF4FA"/>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20840" y="5038344"/>
            <a:ext cx="4434840" cy="320040"/>
          </a:xfrm>
          <a:prstGeom prst="rect">
            <a:avLst/>
          </a:prstGeom>
          <a:noFill/>
        </p:spPr>
        <p:txBody>
          <a:bodyPr wrap="square" lIns="45720" rIns="45720" anchor="t">
            <a:spAutoFit/>
          </a:bodyPr>
          <a:lstStyle/>
          <a:p>
            <a:pPr>
              <a:defRPr sz="1500" b="1">
                <a:solidFill>
                  <a:srgbClr val="3668A6"/>
                </a:solidFill>
                <a:latin typeface="Aptos"/>
              </a:defRPr>
            </a:pPr>
            <a:r>
              <a:t>R vs Python</a:t>
            </a:r>
          </a:p>
        </p:txBody>
      </p:sp>
      <p:sp>
        <p:nvSpPr>
          <p:cNvPr id="15" name="TextBox 14"/>
          <p:cNvSpPr txBox="1"/>
          <p:nvPr/>
        </p:nvSpPr>
        <p:spPr>
          <a:xfrm>
            <a:off x="6720840" y="5458968"/>
            <a:ext cx="4434840" cy="338327"/>
          </a:xfrm>
          <a:prstGeom prst="rect">
            <a:avLst/>
          </a:prstGeom>
          <a:noFill/>
        </p:spPr>
        <p:txBody>
          <a:bodyPr wrap="square" lIns="45720" rIns="45720" anchor="t">
            <a:spAutoFit/>
          </a:bodyPr>
          <a:lstStyle/>
          <a:p>
            <a:pPr>
              <a:defRPr sz="1200" b="0">
                <a:solidFill>
                  <a:srgbClr val="26303D"/>
                </a:solidFill>
                <a:latin typeface="Aptos"/>
              </a:defRPr>
            </a:pPr>
            <a:r>
              <a:t>Both report Rs 289,679 for ages 25–29 (rounded to the nearest rupee).</a:t>
            </a:r>
          </a:p>
        </p:txBody>
      </p:sp>
      <p:sp>
        <p:nvSpPr>
          <p:cNvPr id="16" name="TextBox 15"/>
          <p:cNvSpPr txBox="1"/>
          <p:nvPr/>
        </p:nvSpPr>
        <p:spPr>
          <a:xfrm>
            <a:off x="777240" y="6108192"/>
            <a:ext cx="5486400" cy="228600"/>
          </a:xfrm>
          <a:prstGeom prst="rect">
            <a:avLst/>
          </a:prstGeom>
          <a:noFill/>
        </p:spPr>
        <p:txBody>
          <a:bodyPr wrap="square" lIns="45720" rIns="45720" anchor="t">
            <a:spAutoFit/>
          </a:bodyPr>
          <a:lstStyle/>
          <a:p>
            <a:pPr>
              <a:defRPr sz="900" b="0">
                <a:solidFill>
                  <a:srgbClr val="5E6B7A"/>
                </a:solidFill>
                <a:latin typeface="Aptos"/>
              </a:defRPr>
            </a:pPr>
            <a:r>
              <a:t>Thin band: 60–64 (n = 15; fewer than 30 observations).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02920"/>
          </a:xfrm>
          <a:prstGeom prst="rect">
            <a:avLst/>
          </a:prstGeom>
          <a:noFill/>
        </p:spPr>
        <p:txBody>
          <a:bodyPr wrap="square" lIns="45720" rIns="45720" anchor="t">
            <a:spAutoFit/>
          </a:bodyPr>
          <a:lstStyle/>
          <a:p>
            <a:pPr>
              <a:defRPr sz="2700" b="1">
                <a:solidFill>
                  <a:srgbClr val="182D4C"/>
                </a:solidFill>
                <a:latin typeface="Aptos"/>
              </a:defRPr>
            </a:pPr>
            <a:r>
              <a:t>Q4 | Default vs Redesigned Figure</a:t>
            </a:r>
          </a:p>
        </p:txBody>
      </p:sp>
      <p:sp>
        <p:nvSpPr>
          <p:cNvPr id="3" name="TextBox 2"/>
          <p:cNvSpPr txBox="1"/>
          <p:nvPr/>
        </p:nvSpPr>
        <p:spPr>
          <a:xfrm>
            <a:off x="621792" y="850392"/>
            <a:ext cx="10789920" cy="320040"/>
          </a:xfrm>
          <a:prstGeom prst="rect">
            <a:avLst/>
          </a:prstGeom>
          <a:noFill/>
        </p:spPr>
        <p:txBody>
          <a:bodyPr wrap="square" lIns="45720" rIns="45720" anchor="t">
            <a:spAutoFit/>
          </a:bodyPr>
          <a:lstStyle/>
          <a:p>
            <a:pPr>
              <a:defRPr sz="1100" b="0">
                <a:solidFill>
                  <a:srgbClr val="5E6B7A"/>
                </a:solidFill>
                <a:latin typeface="Aptos"/>
              </a:defRPr>
            </a:pPr>
            <a:r>
              <a:t>The redesign prioritizes readability and makes the overall pattern easier to see</a:t>
            </a:r>
          </a:p>
        </p:txBody>
      </p:sp>
      <p:sp>
        <p:nvSpPr>
          <p:cNvPr id="4" name="Rectangle 3"/>
          <p:cNvSpPr/>
          <p:nvPr/>
        </p:nvSpPr>
        <p:spPr>
          <a:xfrm>
            <a:off x="621792" y="1207008"/>
            <a:ext cx="914400" cy="50292"/>
          </a:xfrm>
          <a:prstGeom prst="rect">
            <a:avLst/>
          </a:prstGeom>
          <a:solidFill>
            <a:srgbClr val="E28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64240" y="6510528"/>
            <a:ext cx="548640" cy="182880"/>
          </a:xfrm>
          <a:prstGeom prst="rect">
            <a:avLst/>
          </a:prstGeom>
          <a:noFill/>
        </p:spPr>
        <p:txBody>
          <a:bodyPr wrap="square" lIns="45720" rIns="45720" anchor="t">
            <a:spAutoFit/>
          </a:bodyPr>
          <a:lstStyle/>
          <a:p>
            <a:pPr algn="r">
              <a:defRPr sz="900" b="0">
                <a:solidFill>
                  <a:srgbClr val="5E6B7A"/>
                </a:solidFill>
                <a:latin typeface="Aptos"/>
              </a:defRPr>
            </a:pPr>
            <a:r>
              <a:t>4</a:t>
            </a:r>
          </a:p>
        </p:txBody>
      </p:sp>
      <p:sp>
        <p:nvSpPr>
          <p:cNvPr id="6" name="Rounded Rectangle 5"/>
          <p:cNvSpPr/>
          <p:nvPr/>
        </p:nvSpPr>
        <p:spPr>
          <a:xfrm>
            <a:off x="640080" y="1508760"/>
            <a:ext cx="5257800" cy="3383280"/>
          </a:xfrm>
          <a:prstGeom prst="roundRect">
            <a:avLst/>
          </a:prstGeom>
          <a:solidFill>
            <a:srgbClr val="EFF4FA"/>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59" y="1664208"/>
            <a:ext cx="4892040" cy="274320"/>
          </a:xfrm>
          <a:prstGeom prst="rect">
            <a:avLst/>
          </a:prstGeom>
          <a:noFill/>
        </p:spPr>
        <p:txBody>
          <a:bodyPr wrap="square" lIns="45720" rIns="45720" anchor="t">
            <a:spAutoFit/>
          </a:bodyPr>
          <a:lstStyle/>
          <a:p>
            <a:pPr algn="ctr">
              <a:defRPr sz="1300" b="1">
                <a:solidFill>
                  <a:srgbClr val="182D4C"/>
                </a:solidFill>
                <a:latin typeface="Aptos"/>
              </a:defRPr>
            </a:pPr>
            <a:r>
              <a:t>DEFAULT GRAPH</a:t>
            </a:r>
          </a:p>
        </p:txBody>
      </p:sp>
      <p:sp>
        <p:nvSpPr>
          <p:cNvPr id="8" name="TextBox 7"/>
          <p:cNvSpPr txBox="1"/>
          <p:nvPr/>
        </p:nvSpPr>
        <p:spPr>
          <a:xfrm>
            <a:off x="960119" y="2240280"/>
            <a:ext cx="4617720" cy="1463040"/>
          </a:xfrm>
          <a:prstGeom prst="rect">
            <a:avLst/>
          </a:prstGeom>
          <a:noFill/>
        </p:spPr>
        <p:txBody>
          <a:bodyPr wrap="square" lIns="45720" rIns="45720" anchor="ctr">
            <a:spAutoFit/>
          </a:bodyPr>
          <a:lstStyle/>
          <a:p>
            <a:pPr algn="ctr">
              <a:defRPr sz="1700" b="0">
                <a:solidFill>
                  <a:srgbClr val="5E6B7A"/>
                </a:solidFill>
                <a:latin typeface="Aptos"/>
              </a:defRPr>
            </a:pPr>
            <a:r>
              <a:t>Insert your exported SVG/PNG graph here</a:t>
            </a:r>
          </a:p>
        </p:txBody>
      </p:sp>
      <p:sp>
        <p:nvSpPr>
          <p:cNvPr id="9" name="TextBox 8"/>
          <p:cNvSpPr txBox="1"/>
          <p:nvPr/>
        </p:nvSpPr>
        <p:spPr>
          <a:xfrm>
            <a:off x="960119" y="4297680"/>
            <a:ext cx="4617720" cy="320040"/>
          </a:xfrm>
          <a:prstGeom prst="rect">
            <a:avLst/>
          </a:prstGeom>
          <a:noFill/>
        </p:spPr>
        <p:txBody>
          <a:bodyPr wrap="square" lIns="45720" rIns="45720" anchor="t">
            <a:spAutoFit/>
          </a:bodyPr>
          <a:lstStyle/>
          <a:p>
            <a:pPr algn="ctr">
              <a:defRPr sz="1000" b="0">
                <a:solidFill>
                  <a:srgbClr val="5E6B7A"/>
                </a:solidFill>
                <a:latin typeface="Aptos"/>
              </a:defRPr>
            </a:pPr>
            <a:r>
              <a:t>default.svg</a:t>
            </a:r>
          </a:p>
        </p:txBody>
      </p:sp>
      <p:sp>
        <p:nvSpPr>
          <p:cNvPr id="10" name="Rounded Rectangle 9"/>
          <p:cNvSpPr/>
          <p:nvPr/>
        </p:nvSpPr>
        <p:spPr>
          <a:xfrm>
            <a:off x="6263640" y="1508760"/>
            <a:ext cx="5257800" cy="3383280"/>
          </a:xfrm>
          <a:prstGeom prst="roundRect">
            <a:avLst/>
          </a:prstGeom>
          <a:solidFill>
            <a:srgbClr val="EFF4FA"/>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664208"/>
            <a:ext cx="4892040" cy="274320"/>
          </a:xfrm>
          <a:prstGeom prst="rect">
            <a:avLst/>
          </a:prstGeom>
          <a:noFill/>
        </p:spPr>
        <p:txBody>
          <a:bodyPr wrap="square" lIns="45720" rIns="45720" anchor="t">
            <a:spAutoFit/>
          </a:bodyPr>
          <a:lstStyle/>
          <a:p>
            <a:pPr algn="ctr">
              <a:defRPr sz="1300" b="1">
                <a:solidFill>
                  <a:srgbClr val="182D4C"/>
                </a:solidFill>
                <a:latin typeface="Aptos"/>
              </a:defRPr>
            </a:pPr>
            <a:r>
              <a:t>REDESIGNED GRAPH</a:t>
            </a:r>
          </a:p>
        </p:txBody>
      </p:sp>
      <p:sp>
        <p:nvSpPr>
          <p:cNvPr id="12" name="TextBox 11"/>
          <p:cNvSpPr txBox="1"/>
          <p:nvPr/>
        </p:nvSpPr>
        <p:spPr>
          <a:xfrm>
            <a:off x="6583679" y="2240280"/>
            <a:ext cx="4617720" cy="1463040"/>
          </a:xfrm>
          <a:prstGeom prst="rect">
            <a:avLst/>
          </a:prstGeom>
          <a:noFill/>
        </p:spPr>
        <p:txBody>
          <a:bodyPr wrap="square" lIns="45720" rIns="45720" anchor="ctr">
            <a:spAutoFit/>
          </a:bodyPr>
          <a:lstStyle/>
          <a:p>
            <a:pPr algn="ctr">
              <a:defRPr sz="1700" b="0">
                <a:solidFill>
                  <a:srgbClr val="5E6B7A"/>
                </a:solidFill>
                <a:latin typeface="Aptos"/>
              </a:defRPr>
            </a:pPr>
            <a:r>
              <a:t>Insert your exported SVG/PNG graph here</a:t>
            </a:r>
          </a:p>
        </p:txBody>
      </p:sp>
      <p:sp>
        <p:nvSpPr>
          <p:cNvPr id="13" name="TextBox 12"/>
          <p:cNvSpPr txBox="1"/>
          <p:nvPr/>
        </p:nvSpPr>
        <p:spPr>
          <a:xfrm>
            <a:off x="6583679" y="4297680"/>
            <a:ext cx="4617720" cy="320040"/>
          </a:xfrm>
          <a:prstGeom prst="rect">
            <a:avLst/>
          </a:prstGeom>
          <a:noFill/>
        </p:spPr>
        <p:txBody>
          <a:bodyPr wrap="square" lIns="45720" rIns="45720" anchor="t">
            <a:spAutoFit/>
          </a:bodyPr>
          <a:lstStyle/>
          <a:p>
            <a:pPr algn="ctr">
              <a:defRPr sz="1000" b="0">
                <a:solidFill>
                  <a:srgbClr val="5E6B7A"/>
                </a:solidFill>
                <a:latin typeface="Aptos"/>
              </a:defRPr>
            </a:pPr>
            <a:r>
              <a:t>q4_redesigned.svg</a:t>
            </a:r>
          </a:p>
        </p:txBody>
      </p:sp>
      <p:sp>
        <p:nvSpPr>
          <p:cNvPr id="14" name="Rounded Rectangle 13"/>
          <p:cNvSpPr/>
          <p:nvPr/>
        </p:nvSpPr>
        <p:spPr>
          <a:xfrm>
            <a:off x="731520" y="5212080"/>
            <a:ext cx="10561318" cy="1325880"/>
          </a:xfrm>
          <a:prstGeom prst="roundRect">
            <a:avLst/>
          </a:prstGeom>
          <a:solidFill>
            <a:srgbClr val="EFF4FA"/>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TextBox 14"/>
          <p:cNvSpPr txBox="1"/>
          <p:nvPr/>
        </p:nvSpPr>
        <p:spPr>
          <a:xfrm>
            <a:off x="960119" y="5242064"/>
            <a:ext cx="10332719" cy="320040"/>
          </a:xfrm>
          <a:prstGeom prst="rect">
            <a:avLst/>
          </a:prstGeom>
          <a:noFill/>
        </p:spPr>
        <p:txBody>
          <a:bodyPr wrap="square" lIns="45720" rIns="45720" anchor="t">
            <a:spAutoFit/>
          </a:bodyPr>
          <a:lstStyle/>
          <a:p>
            <a:pPr>
              <a:defRPr sz="1500" b="1">
                <a:solidFill>
                  <a:srgbClr val="3668A6"/>
                </a:solidFill>
                <a:latin typeface="Aptos"/>
              </a:defRPr>
            </a:pPr>
            <a:r>
              <a:rPr dirty="0"/>
              <a:t>What improved?</a:t>
            </a:r>
          </a:p>
        </p:txBody>
      </p:sp>
      <p:sp>
        <p:nvSpPr>
          <p:cNvPr id="16" name="TextBox 15"/>
          <p:cNvSpPr txBox="1"/>
          <p:nvPr/>
        </p:nvSpPr>
        <p:spPr>
          <a:xfrm>
            <a:off x="850392" y="5493079"/>
            <a:ext cx="10332719" cy="1200329"/>
          </a:xfrm>
          <a:prstGeom prst="rect">
            <a:avLst/>
          </a:prstGeom>
          <a:noFill/>
        </p:spPr>
        <p:txBody>
          <a:bodyPr wrap="square" lIns="45720" rIns="45720" anchor="t">
            <a:spAutoFit/>
          </a:bodyPr>
          <a:lstStyle/>
          <a:p>
            <a:pPr algn="just">
              <a:defRPr sz="1200" b="0">
                <a:solidFill>
                  <a:srgbClr val="26303D"/>
                </a:solidFill>
                <a:latin typeface="Aptos"/>
              </a:defRPr>
            </a:pPr>
            <a:r>
              <a:rPr lang="en-US" sz="1200" dirty="0">
                <a:solidFill>
                  <a:srgbClr val="26303D"/>
                </a:solidFill>
                <a:latin typeface="Aptos"/>
              </a:rPr>
              <a:t>The default scatter plot was redesigned to improve readability and interpretation. First, transparency was added to reduce overplotting and make dense areas easier to identify. Second, a logarithmic earnings axis was used to display the wide range of annual earnings more clearly. Third, weighted age-band means and a connecting line were added to highlight the overall earnings pattern across age groups. Hollow markers identify age bands with fewer than 30 observations, encouraging cautious interpretation. Clear titles, axis labels, and a source caption improve communication. The default plot shows individual observations without summarizing the age-band pattern, while the redesigned figure makes the weighted means and overall trend easier to compare.</a:t>
            </a:r>
          </a:p>
          <a:p>
            <a:pPr algn="just">
              <a:defRPr sz="1200" b="0">
                <a:solidFill>
                  <a:srgbClr val="26303D"/>
                </a:solidFill>
                <a:latin typeface="Aptos"/>
              </a:defRPr>
            </a:pPr>
            <a:r>
              <a:rPr dirty="0"/>
              <a:t>.</a:t>
            </a:r>
          </a:p>
        </p:txBody>
      </p:sp>
      <p:pic>
        <p:nvPicPr>
          <p:cNvPr id="18" name="Graphic 17">
            <a:extLst>
              <a:ext uri="{FF2B5EF4-FFF2-40B4-BE49-F238E27FC236}">
                <a16:creationId xmlns:a16="http://schemas.microsoft.com/office/drawing/2014/main" id="{AC7A5518-D4FA-3915-77A9-49CE827F03E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78992" y="2004450"/>
            <a:ext cx="4355450" cy="2613270"/>
          </a:xfrm>
          <a:prstGeom prst="rect">
            <a:avLst/>
          </a:prstGeom>
        </p:spPr>
      </p:pic>
      <p:pic>
        <p:nvPicPr>
          <p:cNvPr id="20" name="Graphic 19">
            <a:extLst>
              <a:ext uri="{FF2B5EF4-FFF2-40B4-BE49-F238E27FC236}">
                <a16:creationId xmlns:a16="http://schemas.microsoft.com/office/drawing/2014/main" id="{901018BA-EEAC-70DC-4443-8D1F405072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91968" y="2004450"/>
            <a:ext cx="4200747" cy="252044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107</TotalTime>
  <Words>408</Words>
  <Application>Microsoft Office PowerPoint</Application>
  <PresentationFormat>Widescreen</PresentationFormat>
  <Paragraphs>76</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Arial</vt:lpstr>
      <vt:lpstr>Calibri</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Duaa Ayaz</dc:creator>
  <cp:keywords/>
  <dc:description>generated using python-pptx</dc:description>
  <cp:lastModifiedBy>dua ayaz</cp:lastModifiedBy>
  <cp:revision>2</cp:revision>
  <dcterms:created xsi:type="dcterms:W3CDTF">2013-01-27T09:14:16Z</dcterms:created>
  <dcterms:modified xsi:type="dcterms:W3CDTF">2026-10-22T09:19:08Z</dcterms:modified>
  <cp:category/>
</cp:coreProperties>
</file>